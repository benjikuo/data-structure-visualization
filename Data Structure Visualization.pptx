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3" r:id="rId3"/>
    <p:sldId id="272" r:id="rId4"/>
    <p:sldId id="286" r:id="rId5"/>
    <p:sldId id="274" r:id="rId6"/>
    <p:sldId id="275" r:id="rId7"/>
    <p:sldId id="276" r:id="rId8"/>
    <p:sldId id="277" r:id="rId9"/>
    <p:sldId id="278" r:id="rId10"/>
    <p:sldId id="279" r:id="rId11"/>
    <p:sldId id="281" r:id="rId12"/>
    <p:sldId id="282" r:id="rId13"/>
    <p:sldId id="284" r:id="rId14"/>
    <p:sldId id="283" r:id="rId15"/>
    <p:sldId id="285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904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404040"/>
    <a:srgbClr val="94A3B8"/>
    <a:srgbClr val="E4E4E4"/>
    <a:srgbClr val="C3CEE4"/>
    <a:srgbClr val="172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0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1272" y="60"/>
      </p:cViewPr>
      <p:guideLst>
        <p:guide pos="2904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7251-7695-47FE-A246-603BCB21AF0C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D534-8447-4D49-B27E-7A5C728F7C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227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7251-7695-47FE-A246-603BCB21AF0C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D534-8447-4D49-B27E-7A5C728F7C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0102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7251-7695-47FE-A246-603BCB21AF0C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D534-8447-4D49-B27E-7A5C728F7C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094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7251-7695-47FE-A246-603BCB21AF0C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D534-8447-4D49-B27E-7A5C728F7C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0647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7251-7695-47FE-A246-603BCB21AF0C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D534-8447-4D49-B27E-7A5C728F7C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3824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7251-7695-47FE-A246-603BCB21AF0C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D534-8447-4D49-B27E-7A5C728F7C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8063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7251-7695-47FE-A246-603BCB21AF0C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D534-8447-4D49-B27E-7A5C728F7C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760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7251-7695-47FE-A246-603BCB21AF0C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D534-8447-4D49-B27E-7A5C728F7C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509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7251-7695-47FE-A246-603BCB21AF0C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D534-8447-4D49-B27E-7A5C728F7C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544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7251-7695-47FE-A246-603BCB21AF0C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D534-8447-4D49-B27E-7A5C728F7C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516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7251-7695-47FE-A246-603BCB21AF0C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D534-8447-4D49-B27E-7A5C728F7C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03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E137251-7695-47FE-A246-603BCB21AF0C}" type="datetimeFigureOut">
              <a:rPr lang="zh-TW" altLang="en-US" smtClean="0"/>
              <a:t>2025/12/11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3BCD534-8447-4D49-B27E-7A5C728F7C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945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hyperlink" Target="https://benjikuo.github.io/Data-structure-visualization/" TargetMode="Externa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8FB0E4-A775-CC6B-D9D0-030E363D92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/>
              <a:t>Data Structure Visualization</a:t>
            </a:r>
            <a:br>
              <a:rPr lang="en-US" altLang="zh-TW" b="1" dirty="0"/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66422AB-DA40-BEDF-FF5B-883495AFD1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Interactive </a:t>
            </a:r>
            <a:r>
              <a:rPr lang="en-US" altLang="zh-TW" dirty="0">
                <a:solidFill>
                  <a:srgbClr val="C3CEE4"/>
                </a:solidFill>
              </a:rPr>
              <a:t>animations powered </a:t>
            </a:r>
            <a:r>
              <a:rPr lang="en-US" altLang="zh-TW" dirty="0"/>
              <a:t>by p5.js</a:t>
            </a:r>
            <a:endParaRPr lang="zh-TW" altLang="en-US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30DDCDD6-4F66-D58D-5CC7-23ADBF4BC390}"/>
              </a:ext>
            </a:extLst>
          </p:cNvPr>
          <p:cNvSpPr txBox="1">
            <a:spLocks/>
          </p:cNvSpPr>
          <p:nvPr/>
        </p:nvSpPr>
        <p:spPr>
          <a:xfrm>
            <a:off x="9654028" y="4224689"/>
            <a:ext cx="2128398" cy="139881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b="1" dirty="0">
                <a:solidFill>
                  <a:schemeClr val="tx1"/>
                </a:solidFill>
              </a:rPr>
              <a:t>Team members:</a:t>
            </a:r>
          </a:p>
          <a:p>
            <a:pPr>
              <a:lnSpc>
                <a:spcPct val="100000"/>
              </a:lnSpc>
            </a:pPr>
            <a:r>
              <a:rPr lang="en-US" altLang="zh-TW" dirty="0">
                <a:solidFill>
                  <a:schemeClr val="tx1"/>
                </a:solidFill>
              </a:rPr>
              <a:t>- Benjamin Kuo</a:t>
            </a:r>
          </a:p>
          <a:p>
            <a:pPr>
              <a:lnSpc>
                <a:spcPct val="100000"/>
              </a:lnSpc>
            </a:pPr>
            <a:r>
              <a:rPr lang="en-US" altLang="zh-TW" dirty="0">
                <a:solidFill>
                  <a:schemeClr val="tx1"/>
                </a:solidFill>
              </a:rPr>
              <a:t>- Aman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120C4-1C06-E439-B9A1-46B36618CFF9}"/>
              </a:ext>
            </a:extLst>
          </p:cNvPr>
          <p:cNvSpPr/>
          <p:nvPr/>
        </p:nvSpPr>
        <p:spPr>
          <a:xfrm>
            <a:off x="11287125" y="950785"/>
            <a:ext cx="714375" cy="3364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91FE82-FC0A-0196-F0BB-242110CA012E}"/>
              </a:ext>
            </a:extLst>
          </p:cNvPr>
          <p:cNvSpPr/>
          <p:nvPr/>
        </p:nvSpPr>
        <p:spPr>
          <a:xfrm rot="5400000">
            <a:off x="11476101" y="1139761"/>
            <a:ext cx="714375" cy="3364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414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5211" y="2746017"/>
            <a:ext cx="2947482" cy="1365966"/>
          </a:xfrm>
        </p:spPr>
        <p:txBody>
          <a:bodyPr>
            <a:normAutofit/>
          </a:bodyPr>
          <a:lstStyle/>
          <a:p>
            <a:pPr algn="ctr"/>
            <a:r>
              <a:rPr lang="en-US" altLang="zh-TW" sz="4400" dirty="0"/>
              <a:t>Outline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431816" y="748755"/>
            <a:ext cx="4969359" cy="534724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⟐ </a:t>
            </a:r>
            <a:r>
              <a:rPr lang="en-US" altLang="zh-TW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Problem Statement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⟐ </a:t>
            </a:r>
            <a:r>
              <a:rPr lang="en-US" altLang="zh-TW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Project Overview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⟐ </a:t>
            </a:r>
            <a:r>
              <a:rPr lang="en-US" altLang="zh-TW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Module Breakdown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⟐ </a:t>
            </a:r>
            <a:r>
              <a:rPr lang="en-US" altLang="zh-TW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Demonstration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⟐ </a:t>
            </a:r>
            <a:r>
              <a:rPr lang="en-US" altLang="zh-TW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Design Highlights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⟐ </a:t>
            </a:r>
            <a:r>
              <a:rPr lang="en-US" altLang="zh-TW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Future Extensions</a:t>
            </a:r>
            <a:endParaRPr lang="zh-TW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圖片 6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88B3E3F4-1456-F9B8-C325-692F9A848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8432532" y="2784200"/>
            <a:ext cx="5356767" cy="128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373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8FC75-88FD-F404-BDAC-7E11F1D1A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C776EE0D-BDEF-1FB2-C6C9-FD4FF38B34FE}"/>
              </a:ext>
            </a:extLst>
          </p:cNvPr>
          <p:cNvSpPr txBox="1">
            <a:spLocks/>
          </p:cNvSpPr>
          <p:nvPr/>
        </p:nvSpPr>
        <p:spPr>
          <a:xfrm>
            <a:off x="4488762" y="637270"/>
            <a:ext cx="6419383" cy="3704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TW" sz="2400" b="1" dirty="0"/>
              <a:t>Why Understanding Data Structures Is Difficult ?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zh-TW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State changes are invisible.</a:t>
            </a:r>
            <a:br>
              <a:rPr lang="zh-TW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zh-TW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Students cannot see how operations (push</a:t>
            </a: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zh-TW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pop, insert, compare, swap) update internal structures.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zh-TW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zh-TW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Static diagrams can’t show dynamics.</a:t>
            </a:r>
            <a:b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zh-TW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Traditional materials fail to represent step-by-step behaviors such as pointer movement or traversal paths.</a:t>
            </a:r>
            <a:endParaRPr lang="zh-TW" altLang="zh-TW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8CFFC090-691F-B84A-D290-6D7D61957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8408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Problem Statement</a:t>
            </a:r>
            <a:endParaRPr lang="zh-TW" altLang="en-US" sz="4000" dirty="0"/>
          </a:p>
        </p:txBody>
      </p:sp>
      <p:pic>
        <p:nvPicPr>
          <p:cNvPr id="8" name="圖片 7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8B132A80-BEB4-F2D2-2A86-6FFCCB416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752" y="4516914"/>
            <a:ext cx="2663878" cy="157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19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4CB9F-6101-B42A-F401-A9A6E91A6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35DB8140-0E13-662A-825E-340FF1D2C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8408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Problem Statement</a:t>
            </a:r>
            <a:endParaRPr lang="zh-TW" altLang="en-US" sz="4000" dirty="0"/>
          </a:p>
        </p:txBody>
      </p:sp>
      <p:pic>
        <p:nvPicPr>
          <p:cNvPr id="7" name="圖片 6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30B25A79-F3D5-D370-4E31-03F55CFE7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754" y="2864860"/>
            <a:ext cx="4605512" cy="3193040"/>
          </a:xfrm>
          <a:prstGeom prst="rect">
            <a:avLst/>
          </a:prstGeom>
          <a:ln>
            <a:solidFill>
              <a:srgbClr val="172033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softEdge rad="0"/>
          </a:effectLst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6433BA-2FEB-CC12-4A02-9663BDC0B6EF}"/>
              </a:ext>
            </a:extLst>
          </p:cNvPr>
          <p:cNvSpPr txBox="1">
            <a:spLocks/>
          </p:cNvSpPr>
          <p:nvPr/>
        </p:nvSpPr>
        <p:spPr>
          <a:xfrm>
            <a:off x="4488764" y="868180"/>
            <a:ext cx="6345492" cy="1838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tx1">
                  <a:lumMod val="65000"/>
                  <a:lumOff val="35000"/>
                </a:schemeClr>
              </a:buClr>
              <a:buNone/>
            </a:pPr>
            <a:r>
              <a:rPr lang="en-US" altLang="zh-TW" sz="2400" b="1" dirty="0"/>
              <a:t>Solution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Make it move.</a:t>
            </a:r>
            <a:b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</a:rPr>
              <a:t>Visual steps reveal the logic instantly</a:t>
            </a:r>
            <a: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1573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706EC8-51DF-C266-9738-D677F14DC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7194" y="1075622"/>
            <a:ext cx="1098194" cy="507331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Before</a:t>
            </a:r>
            <a:endParaRPr lang="zh-TW" altLang="en-US" sz="2400" dirty="0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E967EB65-BEFA-2708-BBA9-C73447DEB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8408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Problem Statement</a:t>
            </a:r>
            <a:endParaRPr lang="zh-TW" altLang="en-US" sz="4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5CC4F2-B49C-B813-051C-76FEE9D388A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50" y="1800388"/>
            <a:ext cx="2942680" cy="2769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EDB3B16D-68FF-2EE8-574B-48510BDBBB58}"/>
              </a:ext>
            </a:extLst>
          </p:cNvPr>
          <p:cNvSpPr txBox="1"/>
          <p:nvPr/>
        </p:nvSpPr>
        <p:spPr>
          <a:xfrm>
            <a:off x="4477194" y="4848225"/>
            <a:ext cx="30573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b="1" dirty="0"/>
              <a:t>Pre-order:</a:t>
            </a:r>
          </a:p>
          <a:p>
            <a:pPr>
              <a:buNone/>
            </a:pPr>
            <a:r>
              <a:rPr lang="en-US" altLang="zh-TW" dirty="0"/>
              <a:t>A B D I K E J F C G L M O H N P</a:t>
            </a:r>
          </a:p>
          <a:p>
            <a:pPr>
              <a:buNone/>
            </a:pPr>
            <a:endParaRPr lang="en-US" altLang="zh-TW" sz="800" dirty="0"/>
          </a:p>
          <a:p>
            <a:pPr>
              <a:buNone/>
            </a:pPr>
            <a:r>
              <a:rPr lang="en-US" altLang="zh-TW" b="1" dirty="0"/>
              <a:t>Post-order:</a:t>
            </a:r>
          </a:p>
          <a:p>
            <a:pPr>
              <a:buNone/>
            </a:pPr>
            <a:r>
              <a:rPr lang="en-US" altLang="zh-TW" dirty="0"/>
              <a:t>K I D J E F B L O M G P N H C A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024712C-72DC-31A0-F437-733FE9F1043B}"/>
              </a:ext>
            </a:extLst>
          </p:cNvPr>
          <p:cNvSpPr txBox="1">
            <a:spLocks/>
          </p:cNvSpPr>
          <p:nvPr/>
        </p:nvSpPr>
        <p:spPr>
          <a:xfrm>
            <a:off x="7904692" y="1074919"/>
            <a:ext cx="1098194" cy="507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None/>
              <a:defRPr sz="20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/>
              <a:t>After</a:t>
            </a:r>
            <a:endParaRPr lang="zh-TW" altLang="en-US" sz="2400" dirty="0"/>
          </a:p>
        </p:txBody>
      </p:sp>
      <p:pic>
        <p:nvPicPr>
          <p:cNvPr id="13" name="圖片 12" descr="一張含有 圓形, 圖表, 行, 白色 的圖片&#10;&#10;AI 產生的內容可能不正確。">
            <a:extLst>
              <a:ext uri="{FF2B5EF4-FFF2-40B4-BE49-F238E27FC236}">
                <a16:creationId xmlns:a16="http://schemas.microsoft.com/office/drawing/2014/main" id="{00FA9984-8A1A-342C-3583-D30560628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290" y="2118502"/>
            <a:ext cx="2811554" cy="1618960"/>
          </a:xfrm>
          <a:prstGeom prst="rect">
            <a:avLst/>
          </a:prstGeom>
        </p:spPr>
      </p:pic>
      <p:pic>
        <p:nvPicPr>
          <p:cNvPr id="16" name="圖片 15" descr="一張含有 圓形, 圖表, 行, 螢幕擷取畫面 的圖片&#10;&#10;AI 產生的內容可能不正確。">
            <a:extLst>
              <a:ext uri="{FF2B5EF4-FFF2-40B4-BE49-F238E27FC236}">
                <a16:creationId xmlns:a16="http://schemas.microsoft.com/office/drawing/2014/main" id="{83178F1B-9543-DDD0-C567-81A7CADBCB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289" y="4418192"/>
            <a:ext cx="2782535" cy="1639708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1731852A-123C-BAA2-EE01-DF052E6321F2}"/>
              </a:ext>
            </a:extLst>
          </p:cNvPr>
          <p:cNvSpPr txBox="1"/>
          <p:nvPr/>
        </p:nvSpPr>
        <p:spPr>
          <a:xfrm>
            <a:off x="7894615" y="1781338"/>
            <a:ext cx="1192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b="1" dirty="0"/>
              <a:t>Pre-order:</a:t>
            </a:r>
            <a:endParaRPr lang="en-US" altLang="zh-TW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58DBD32-6850-AD09-A35D-B99A336DA811}"/>
              </a:ext>
            </a:extLst>
          </p:cNvPr>
          <p:cNvSpPr txBox="1"/>
          <p:nvPr/>
        </p:nvSpPr>
        <p:spPr>
          <a:xfrm>
            <a:off x="7885089" y="4007237"/>
            <a:ext cx="1363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b="1" dirty="0"/>
              <a:t>Post-order: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4B86F34D-74DD-A036-5AA9-DF751920986B}"/>
              </a:ext>
            </a:extLst>
          </p:cNvPr>
          <p:cNvCxnSpPr>
            <a:cxnSpLocks/>
          </p:cNvCxnSpPr>
          <p:nvPr/>
        </p:nvCxnSpPr>
        <p:spPr>
          <a:xfrm>
            <a:off x="7677165" y="1074919"/>
            <a:ext cx="19257" cy="49829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0616F545-8ECB-A722-DC4A-28DF406F53B0}"/>
              </a:ext>
            </a:extLst>
          </p:cNvPr>
          <p:cNvCxnSpPr>
            <a:cxnSpLocks/>
          </p:cNvCxnSpPr>
          <p:nvPr/>
        </p:nvCxnSpPr>
        <p:spPr>
          <a:xfrm>
            <a:off x="4572000" y="4743450"/>
            <a:ext cx="3105372" cy="0"/>
          </a:xfrm>
          <a:prstGeom prst="line">
            <a:avLst/>
          </a:prstGeom>
          <a:ln w="28575">
            <a:solidFill>
              <a:srgbClr val="E4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92016F97-166E-FDC7-197F-0A307617E352}"/>
              </a:ext>
            </a:extLst>
          </p:cNvPr>
          <p:cNvCxnSpPr>
            <a:cxnSpLocks/>
          </p:cNvCxnSpPr>
          <p:nvPr/>
        </p:nvCxnSpPr>
        <p:spPr>
          <a:xfrm>
            <a:off x="7715472" y="3939827"/>
            <a:ext cx="3105372" cy="0"/>
          </a:xfrm>
          <a:prstGeom prst="line">
            <a:avLst/>
          </a:prstGeom>
          <a:ln w="28575">
            <a:solidFill>
              <a:srgbClr val="E4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CBA4BCCA-4E15-885E-965C-EAAFABC0FE63}"/>
              </a:ext>
            </a:extLst>
          </p:cNvPr>
          <p:cNvCxnSpPr>
            <a:cxnSpLocks/>
          </p:cNvCxnSpPr>
          <p:nvPr/>
        </p:nvCxnSpPr>
        <p:spPr>
          <a:xfrm flipH="1">
            <a:off x="4572000" y="1666875"/>
            <a:ext cx="624884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64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5C452-50A6-B2B7-29CE-431D5088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A57F0F3-0026-2050-B587-BBBD06003119}"/>
              </a:ext>
            </a:extLst>
          </p:cNvPr>
          <p:cNvSpPr txBox="1">
            <a:spLocks/>
          </p:cNvSpPr>
          <p:nvPr/>
        </p:nvSpPr>
        <p:spPr>
          <a:xfrm>
            <a:off x="4410075" y="523875"/>
            <a:ext cx="4238625" cy="5962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0"/>
              </a:lnSpc>
              <a:buNone/>
            </a:pPr>
            <a:r>
              <a:rPr lang="en-US" altLang="zh-TW" sz="12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structure</a:t>
            </a: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├── assets/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├── </a:t>
            </a:r>
            <a:r>
              <a:rPr lang="en-US" altLang="zh-TW" sz="12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css</a:t>
            </a: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│        ├── style.css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│        └── visualizer.css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├── image/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│        └── showcase.gif                   # Demonstration gif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└── </a:t>
            </a:r>
            <a:r>
              <a:rPr lang="en-US" altLang="zh-TW" sz="12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js</a:t>
            </a: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├── core/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│           ├── AnimationStep.js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│           └── Visualizer.js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└── modules/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├── basic/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│            ├── Queue.js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│            └── Stack.js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├── searching/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│            ├── BinarySearch.js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│            └── LinearSearch.js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├── sorting/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│            ├── BubbleSort.js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│            ├── MergeSort.js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│            └── QuickSort.js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├── tree/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│            └── BST.js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└── utils/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                ├── helpers.js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                                           └── p5.min.js          # p5.js library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├── pages/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├── basic.html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├── searching.html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├── sorting.html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│            └── tree.html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├── index.html                               # Main webpage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├── LICENSE                                   # MIT license</a:t>
            </a:r>
          </a:p>
          <a:p>
            <a:pPr marL="0" indent="0">
              <a:lnSpc>
                <a:spcPts val="0"/>
              </a:lnSpc>
              <a:buNone/>
            </a:pPr>
            <a:r>
              <a:rPr lang="en-US" altLang="zh-TW" sz="12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└── README.md                          # Project documentation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09CEEC83-EB90-1605-6F7E-9D486FA9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8408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Project Overview</a:t>
            </a:r>
            <a:endParaRPr lang="zh-TW" altLang="en-US" sz="4000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BDDBB86-21BE-1EB5-53C0-3926CE7778BA}"/>
              </a:ext>
            </a:extLst>
          </p:cNvPr>
          <p:cNvSpPr txBox="1">
            <a:spLocks/>
          </p:cNvSpPr>
          <p:nvPr/>
        </p:nvSpPr>
        <p:spPr>
          <a:xfrm>
            <a:off x="8448245" y="2406361"/>
            <a:ext cx="3214688" cy="1981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"/>
              </a:lnSpc>
              <a:buNone/>
            </a:pPr>
            <a:r>
              <a:rPr lang="en-US" altLang="zh-TW" sz="1800" b="1" dirty="0"/>
              <a:t>Page Overview</a:t>
            </a:r>
          </a:p>
          <a:p>
            <a:pPr marL="0" indent="0">
              <a:lnSpc>
                <a:spcPts val="300"/>
              </a:lnSpc>
              <a:buNone/>
            </a:pP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-apple-system"/>
            </a:endParaRPr>
          </a:p>
          <a:p>
            <a:pPr marL="0" indent="0">
              <a:lnSpc>
                <a:spcPts val="300"/>
              </a:lnSpc>
              <a:buNone/>
            </a:pP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Index (main navigation hub)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ts val="300"/>
              </a:lnSpc>
              <a:buNone/>
            </a:pP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├── 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Basic Structures (Stack · Queue)</a:t>
            </a:r>
            <a:b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ts val="300"/>
              </a:lnSpc>
              <a:buNone/>
            </a:pP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├── 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Searching (Linear · Binary)</a:t>
            </a:r>
            <a:b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ts val="300"/>
              </a:lnSpc>
              <a:buNone/>
            </a:pP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└── 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-apple-system"/>
              </a:rPr>
              <a:t>Tree Structures (BST)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B1EB1D-8D4D-81E4-4BB1-E011DFE73144}"/>
              </a:ext>
            </a:extLst>
          </p:cNvPr>
          <p:cNvSpPr/>
          <p:nvPr/>
        </p:nvSpPr>
        <p:spPr>
          <a:xfrm>
            <a:off x="10834543" y="761513"/>
            <a:ext cx="714375" cy="336423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F0C2A9-B7FE-C74F-5733-6B556045CDBD}"/>
              </a:ext>
            </a:extLst>
          </p:cNvPr>
          <p:cNvSpPr/>
          <p:nvPr/>
        </p:nvSpPr>
        <p:spPr>
          <a:xfrm rot="5400000">
            <a:off x="11023519" y="950489"/>
            <a:ext cx="714375" cy="336423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DD9599-59CF-19F1-4E30-47127ECC9B47}"/>
              </a:ext>
            </a:extLst>
          </p:cNvPr>
          <p:cNvSpPr/>
          <p:nvPr/>
        </p:nvSpPr>
        <p:spPr>
          <a:xfrm rot="5400000">
            <a:off x="11021558" y="5532213"/>
            <a:ext cx="714375" cy="336423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865BB-14C2-1A9B-7CBE-6458887756AD}"/>
              </a:ext>
            </a:extLst>
          </p:cNvPr>
          <p:cNvSpPr/>
          <p:nvPr/>
        </p:nvSpPr>
        <p:spPr>
          <a:xfrm rot="10800000">
            <a:off x="10832582" y="5721189"/>
            <a:ext cx="714375" cy="336423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7283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7B184-F676-3EEB-0487-8BBA9999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EE51E247-8CCC-37B6-5143-A051A8E0B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8408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zh-TW" sz="4000"/>
              <a:t>Project Overview</a:t>
            </a:r>
            <a:endParaRPr lang="zh-TW" altLang="en-US" sz="4000" dirty="0"/>
          </a:p>
        </p:txBody>
      </p:sp>
      <p:pic>
        <p:nvPicPr>
          <p:cNvPr id="5" name="圖片 4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C907B96F-0785-866B-F26E-3C73CF6C8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397" y="1450027"/>
            <a:ext cx="6224078" cy="3957943"/>
          </a:xfrm>
          <a:prstGeom prst="rect">
            <a:avLst/>
          </a:prstGeom>
          <a:ln>
            <a:solidFill>
              <a:srgbClr val="172033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58173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FB20B-BC2A-CDC0-7CCE-5008F52A3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9A2A1F3B-77D9-F962-8E84-4A4C20CA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8408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zh-TW" sz="4000"/>
              <a:t>Project Overview</a:t>
            </a:r>
            <a:endParaRPr lang="zh-TW" altLang="en-US" sz="4000" dirty="0"/>
          </a:p>
        </p:txBody>
      </p:sp>
      <p:pic>
        <p:nvPicPr>
          <p:cNvPr id="3" name="圖片 2" descr="一張含有 文字, 螢幕擷取畫面, 軟體, 圖表 的圖片&#10;&#10;AI 產生的內容可能不正確。">
            <a:extLst>
              <a:ext uri="{FF2B5EF4-FFF2-40B4-BE49-F238E27FC236}">
                <a16:creationId xmlns:a16="http://schemas.microsoft.com/office/drawing/2014/main" id="{E8866D2B-DA2E-AEFC-E1E8-435BD5AC2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267" y="923923"/>
            <a:ext cx="2947481" cy="2369127"/>
          </a:xfrm>
          <a:prstGeom prst="rect">
            <a:avLst/>
          </a:prstGeom>
          <a:ln>
            <a:solidFill>
              <a:srgbClr val="172033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softEdge rad="0"/>
          </a:effectLst>
        </p:spPr>
      </p:pic>
      <p:pic>
        <p:nvPicPr>
          <p:cNvPr id="6" name="圖片 5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903BF1BD-9B1C-AECF-BF92-236DD8B2D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993" y="3556126"/>
            <a:ext cx="2947481" cy="2369127"/>
          </a:xfrm>
          <a:prstGeom prst="rect">
            <a:avLst/>
          </a:prstGeom>
          <a:ln>
            <a:solidFill>
              <a:srgbClr val="172033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softEdge rad="0"/>
          </a:effectLst>
        </p:spPr>
      </p:pic>
      <p:pic>
        <p:nvPicPr>
          <p:cNvPr id="8" name="圖片 7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5E1E3392-2A5E-35AD-76CE-8E37238C5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995" y="923925"/>
            <a:ext cx="2947481" cy="2369126"/>
          </a:xfrm>
          <a:prstGeom prst="rect">
            <a:avLst/>
          </a:prstGeom>
          <a:ln>
            <a:solidFill>
              <a:srgbClr val="172033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softEdge rad="0"/>
          </a:effectLst>
        </p:spPr>
      </p:pic>
      <p:pic>
        <p:nvPicPr>
          <p:cNvPr id="11" name="圖片 10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C889F2A9-23E8-A1CF-E178-136CAFA69C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267" y="3564944"/>
            <a:ext cx="2947481" cy="2369127"/>
          </a:xfrm>
          <a:prstGeom prst="rect">
            <a:avLst/>
          </a:prstGeom>
          <a:ln>
            <a:solidFill>
              <a:srgbClr val="172033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983203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62AD4-41F8-9358-A770-FBCE78381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BFC6578-E7E7-61B1-1035-515458FFE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8408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Module Breakdown</a:t>
            </a:r>
            <a:endParaRPr lang="zh-TW" altLang="en-US" sz="4000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966AB133-4BD0-6AF9-47C4-5F2F31768D32}"/>
              </a:ext>
            </a:extLst>
          </p:cNvPr>
          <p:cNvSpPr txBox="1">
            <a:spLocks/>
          </p:cNvSpPr>
          <p:nvPr/>
        </p:nvSpPr>
        <p:spPr>
          <a:xfrm>
            <a:off x="99890" y="3984446"/>
            <a:ext cx="2947482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C3CEE4"/>
                </a:solidFill>
              </a:rPr>
              <a:t>Basic Structures</a:t>
            </a:r>
            <a:endParaRPr lang="zh-TW" altLang="en-US" dirty="0">
              <a:solidFill>
                <a:srgbClr val="C3CEE4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9232B0-DB68-10F9-DA81-A7A29C959702}"/>
              </a:ext>
            </a:extLst>
          </p:cNvPr>
          <p:cNvSpPr txBox="1">
            <a:spLocks/>
          </p:cNvSpPr>
          <p:nvPr/>
        </p:nvSpPr>
        <p:spPr>
          <a:xfrm>
            <a:off x="4488762" y="611173"/>
            <a:ext cx="6419383" cy="3213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TW" sz="2400" b="1" dirty="0"/>
              <a:t>Basic Structures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zh-TW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St</a:t>
            </a: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ack </a:t>
            </a: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(LIFO)</a:t>
            </a:r>
            <a:br>
              <a:rPr lang="zh-TW" altLang="zh-TW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Elements are added and removed from the top.</a:t>
            </a:r>
          </a:p>
          <a:p>
            <a:pPr>
              <a:spcBef>
                <a:spcPts val="0"/>
              </a:spcBef>
            </a:pPr>
            <a:endParaRPr lang="en-US" altLang="zh-TW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Queue </a:t>
            </a: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(FIFO)</a:t>
            </a:r>
            <a:br>
              <a:rPr lang="zh-TW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Elements enter from the back and exit from the front.</a:t>
            </a:r>
            <a:endParaRPr lang="zh-TW" altLang="zh-TW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圖片 4" descr="一張含有 文字, 螢幕擷取畫面, 軟體, 圖表 的圖片&#10;&#10;AI 產生的內容可能不正確。">
            <a:extLst>
              <a:ext uri="{FF2B5EF4-FFF2-40B4-BE49-F238E27FC236}">
                <a16:creationId xmlns:a16="http://schemas.microsoft.com/office/drawing/2014/main" id="{3A21F9CD-4182-5096-B708-05BA91D5B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903" y="4156651"/>
            <a:ext cx="2412785" cy="1939349"/>
          </a:xfrm>
          <a:prstGeom prst="rect">
            <a:avLst/>
          </a:prstGeom>
          <a:ln>
            <a:solidFill>
              <a:srgbClr val="172033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584156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587CD-3764-062A-EBA2-40482DDD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C46D991A-8912-B489-2240-68ADC656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8408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Module Breakdown</a:t>
            </a:r>
            <a:endParaRPr lang="zh-TW" altLang="en-US" sz="4000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68D0A43B-8924-CB20-74A2-19D3174D919C}"/>
              </a:ext>
            </a:extLst>
          </p:cNvPr>
          <p:cNvSpPr txBox="1">
            <a:spLocks/>
          </p:cNvSpPr>
          <p:nvPr/>
        </p:nvSpPr>
        <p:spPr>
          <a:xfrm>
            <a:off x="99890" y="3984446"/>
            <a:ext cx="2947482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C3CEE4"/>
                </a:solidFill>
              </a:rPr>
              <a:t>Searching</a:t>
            </a:r>
            <a:endParaRPr lang="zh-TW" altLang="en-US" dirty="0">
              <a:solidFill>
                <a:srgbClr val="C3CEE4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CC5D9E-541B-1418-D33D-B7678EE4EEE5}"/>
              </a:ext>
            </a:extLst>
          </p:cNvPr>
          <p:cNvSpPr txBox="1">
            <a:spLocks/>
          </p:cNvSpPr>
          <p:nvPr/>
        </p:nvSpPr>
        <p:spPr>
          <a:xfrm>
            <a:off x="4488762" y="369417"/>
            <a:ext cx="6419383" cy="3704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TW" sz="2400" b="1" dirty="0"/>
              <a:t>Searching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Linear Search</a:t>
            </a:r>
            <a:br>
              <a:rPr lang="zh-TW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Checks each element one by one.</a:t>
            </a:r>
          </a:p>
          <a:p>
            <a:pPr>
              <a:spcBef>
                <a:spcPts val="0"/>
              </a:spcBef>
            </a:pPr>
            <a:endParaRPr lang="en-US" altLang="zh-TW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Binary Search</a:t>
            </a:r>
            <a:b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Repeatedly halves the search range on a sorted array.</a:t>
            </a:r>
            <a:endParaRPr lang="zh-TW" altLang="zh-TW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7" name="圖片 6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1B60FE98-5389-B1CF-5BF2-370300B6A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904" y="4156651"/>
            <a:ext cx="2412786" cy="1939349"/>
          </a:xfrm>
          <a:prstGeom prst="rect">
            <a:avLst/>
          </a:prstGeom>
          <a:ln>
            <a:solidFill>
              <a:srgbClr val="172033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850135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5281F-4CDB-0234-B4EF-226CB8B4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420567A9-C6C6-E91C-58B1-A8876257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8408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Module Breakdown</a:t>
            </a:r>
            <a:endParaRPr lang="zh-TW" altLang="en-US" sz="4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4F59D22-E8F5-9829-4D4F-039E7BEDF1B6}"/>
              </a:ext>
            </a:extLst>
          </p:cNvPr>
          <p:cNvSpPr txBox="1">
            <a:spLocks/>
          </p:cNvSpPr>
          <p:nvPr/>
        </p:nvSpPr>
        <p:spPr>
          <a:xfrm>
            <a:off x="99890" y="3984446"/>
            <a:ext cx="2947482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C3CEE4"/>
                </a:solidFill>
              </a:rPr>
              <a:t>Sorting</a:t>
            </a:r>
            <a:endParaRPr lang="zh-TW" altLang="en-US" dirty="0">
              <a:solidFill>
                <a:srgbClr val="C3CEE4"/>
              </a:solidFill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E8CDD53B-1E69-67FF-D7A7-912E23CCC6AD}"/>
              </a:ext>
            </a:extLst>
          </p:cNvPr>
          <p:cNvSpPr txBox="1">
            <a:spLocks/>
          </p:cNvSpPr>
          <p:nvPr/>
        </p:nvSpPr>
        <p:spPr>
          <a:xfrm>
            <a:off x="4488762" y="655742"/>
            <a:ext cx="6419383" cy="3704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TW" sz="2400" b="1" dirty="0"/>
              <a:t>Sorting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Bubble Sort</a:t>
            </a:r>
            <a:br>
              <a:rPr lang="zh-TW" altLang="zh-TW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600" dirty="0">
                <a:solidFill>
                  <a:schemeClr val="tx1"/>
                </a:solidFill>
                <a:latin typeface="Arial" panose="020B0604020202020204" pitchFamily="34" charset="0"/>
              </a:rPr>
              <a:t>Repeatedly compares and swaps adjacent elements.</a:t>
            </a:r>
          </a:p>
          <a:p>
            <a:pPr>
              <a:spcBef>
                <a:spcPts val="0"/>
              </a:spcBef>
            </a:pPr>
            <a:endParaRPr lang="en-US" altLang="zh-TW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Quick Sort</a:t>
            </a:r>
            <a:br>
              <a:rPr lang="zh-TW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600" dirty="0">
                <a:solidFill>
                  <a:schemeClr val="tx1"/>
                </a:solidFill>
                <a:latin typeface="Arial" panose="020B0604020202020204" pitchFamily="34" charset="0"/>
              </a:rPr>
              <a:t>Uses a pivot to partition the array.</a:t>
            </a:r>
          </a:p>
          <a:p>
            <a:pPr>
              <a:spcBef>
                <a:spcPts val="0"/>
              </a:spcBef>
            </a:pPr>
            <a:endParaRPr lang="en-US" altLang="zh-TW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Merge Sort</a:t>
            </a:r>
            <a:br>
              <a:rPr lang="zh-TW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600" dirty="0">
                <a:solidFill>
                  <a:schemeClr val="tx1"/>
                </a:solidFill>
                <a:latin typeface="Arial" panose="020B0604020202020204" pitchFamily="34" charset="0"/>
              </a:rPr>
              <a:t>Divides the array, then merges sorted halves.</a:t>
            </a:r>
            <a:endParaRPr lang="zh-TW" altLang="zh-TW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7" name="圖片 6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988C65D2-9251-E235-0DD4-619FBE477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903" y="4156651"/>
            <a:ext cx="2412785" cy="1939349"/>
          </a:xfrm>
          <a:prstGeom prst="rect">
            <a:avLst/>
          </a:prstGeom>
          <a:ln>
            <a:solidFill>
              <a:srgbClr val="172033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072208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1B76-4171-04CE-57C3-4FACA6B1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0869B9C0-165D-9C7E-9E57-2F2A537A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8408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Module Breakdown</a:t>
            </a:r>
            <a:endParaRPr lang="zh-TW" altLang="en-US" sz="4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1DE8D0-F3AA-7159-AFA7-BFBEFA4830FB}"/>
              </a:ext>
            </a:extLst>
          </p:cNvPr>
          <p:cNvSpPr txBox="1">
            <a:spLocks/>
          </p:cNvSpPr>
          <p:nvPr/>
        </p:nvSpPr>
        <p:spPr>
          <a:xfrm>
            <a:off x="99890" y="3984446"/>
            <a:ext cx="2947482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C3CEE4"/>
                </a:solidFill>
              </a:rPr>
              <a:t>Tree Structures</a:t>
            </a:r>
            <a:endParaRPr lang="zh-TW" altLang="en-US" dirty="0">
              <a:solidFill>
                <a:srgbClr val="C3CEE4"/>
              </a:solidFill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8106A370-67B9-C083-70F0-CBD93B591077}"/>
              </a:ext>
            </a:extLst>
          </p:cNvPr>
          <p:cNvSpPr txBox="1">
            <a:spLocks/>
          </p:cNvSpPr>
          <p:nvPr/>
        </p:nvSpPr>
        <p:spPr>
          <a:xfrm>
            <a:off x="4488762" y="378654"/>
            <a:ext cx="6419383" cy="3704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TW" sz="2400" b="1" dirty="0"/>
              <a:t>Tree Structures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Binary Search Tree </a:t>
            </a: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(BST)</a:t>
            </a:r>
            <a:br>
              <a:rPr lang="zh-TW" altLang="zh-TW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Values smaller go left, larger go right.</a:t>
            </a:r>
          </a:p>
          <a:p>
            <a:pPr>
              <a:spcBef>
                <a:spcPts val="0"/>
              </a:spcBef>
            </a:pPr>
            <a:endParaRPr lang="en-US" altLang="zh-TW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Traversals</a:t>
            </a:r>
            <a:b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Supports Pre-order, In-order, and Post-order.</a:t>
            </a:r>
            <a:endParaRPr lang="zh-TW" altLang="zh-TW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7" name="圖片 6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0A2FCF2E-CA18-BF2F-A8C1-60B032607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903" y="4156651"/>
            <a:ext cx="2412785" cy="1939349"/>
          </a:xfrm>
          <a:prstGeom prst="rect">
            <a:avLst/>
          </a:prstGeom>
          <a:ln>
            <a:solidFill>
              <a:srgbClr val="172033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832638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CA01F-3DE8-401A-8FFF-8E3F2D341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81577AD-DA5F-48B3-8FB9-5199BA9EE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5350"/>
            <a:ext cx="4642228" cy="5330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9EC94C81-B49D-734D-DCE8-F34C1A3F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99" y="1123837"/>
            <a:ext cx="4016116" cy="12554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4000" dirty="0"/>
              <a:t>Demonstration</a:t>
            </a:r>
            <a:endParaRPr lang="en-US" altLang="zh-TW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2E2A0235-55C0-FE3F-5B8A-B0387ABA6827}"/>
              </a:ext>
            </a:extLst>
          </p:cNvPr>
          <p:cNvSpPr txBox="1">
            <a:spLocks/>
          </p:cNvSpPr>
          <p:nvPr/>
        </p:nvSpPr>
        <p:spPr>
          <a:xfrm>
            <a:off x="336874" y="2481820"/>
            <a:ext cx="4016116" cy="12554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>
                <a:solidFill>
                  <a:schemeClr val="bg1"/>
                </a:solidFill>
              </a:rPr>
              <a:t>Visit the website: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https://benjikuo.github.io/Data-structure-visualization/</a:t>
            </a:r>
            <a:endParaRPr lang="en-US" altLang="zh-TW" dirty="0">
              <a:solidFill>
                <a:srgbClr val="0070C0"/>
              </a:solidFill>
            </a:endParaRPr>
          </a:p>
        </p:txBody>
      </p:sp>
      <p:pic>
        <p:nvPicPr>
          <p:cNvPr id="3" name="圖片 2" descr="一張含有 文字, 螢幕擷取畫面, 軟體, 電腦 的圖片&#10;&#10;AI 產生的內容可能不正確。">
            <a:extLst>
              <a:ext uri="{FF2B5EF4-FFF2-40B4-BE49-F238E27FC236}">
                <a16:creationId xmlns:a16="http://schemas.microsoft.com/office/drawing/2014/main" id="{F7B4499E-FAAD-FF33-2621-21F5B3A11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463" y="785199"/>
            <a:ext cx="6193767" cy="5279449"/>
          </a:xfrm>
          <a:prstGeom prst="rect">
            <a:avLst/>
          </a:prstGeom>
        </p:spPr>
      </p:pic>
      <p:pic>
        <p:nvPicPr>
          <p:cNvPr id="11" name="圖片 10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1582FBA1-830D-F15D-DC35-F81AB23398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3074" y="4572634"/>
            <a:ext cx="3796976" cy="1200333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171050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54120-DB39-7632-E345-3CA3566F0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6E0813DF-7BF9-3B0F-62E1-3A148267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8408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Design Highlights</a:t>
            </a:r>
            <a:endParaRPr lang="zh-TW" altLang="en-US" sz="4000" dirty="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22516B96-1EED-09AE-AD87-97CF8D0FA41A}"/>
              </a:ext>
            </a:extLst>
          </p:cNvPr>
          <p:cNvSpPr txBox="1">
            <a:spLocks/>
          </p:cNvSpPr>
          <p:nvPr/>
        </p:nvSpPr>
        <p:spPr>
          <a:xfrm>
            <a:off x="4488762" y="655781"/>
            <a:ext cx="3195893" cy="4137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TW" sz="2400" b="1" dirty="0"/>
              <a:t>Key Design Features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endParaRPr lang="en-US" altLang="zh-TW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US" altLang="zh-TW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Consistent Layout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TW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Color-Coded States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TW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Interactive Controls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TW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Real-Time Visualization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TW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Modular Architecture</a:t>
            </a:r>
            <a:endParaRPr lang="zh-TW" altLang="zh-TW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3" name="圖片 2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63886AC3-DBF8-830D-93B4-71D2C7C5B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655" y="2201056"/>
            <a:ext cx="3509818" cy="2821123"/>
          </a:xfrm>
          <a:prstGeom prst="rect">
            <a:avLst/>
          </a:prstGeom>
          <a:ln>
            <a:solidFill>
              <a:srgbClr val="172033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softEdge rad="0"/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CA46504-318C-2383-7F54-8497E62C8359}"/>
              </a:ext>
            </a:extLst>
          </p:cNvPr>
          <p:cNvSpPr/>
          <p:nvPr/>
        </p:nvSpPr>
        <p:spPr>
          <a:xfrm rot="5400000">
            <a:off x="4421123" y="5559734"/>
            <a:ext cx="714375" cy="33642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66D09F-8E43-A1E3-F34D-805CB9CBAFA0}"/>
              </a:ext>
            </a:extLst>
          </p:cNvPr>
          <p:cNvSpPr/>
          <p:nvPr/>
        </p:nvSpPr>
        <p:spPr>
          <a:xfrm rot="10800000">
            <a:off x="4610100" y="5748709"/>
            <a:ext cx="714375" cy="33642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384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792AE-DE31-2724-5790-3A0FA18B1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61D23240-FB0B-D767-CCC6-56CA0CC1A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8408"/>
            <a:ext cx="2947482" cy="4601183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Future Extensions</a:t>
            </a:r>
            <a:endParaRPr lang="zh-TW" altLang="en-US" sz="4000" dirty="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B07C5115-46DD-D99F-826D-25F5429C47AB}"/>
              </a:ext>
            </a:extLst>
          </p:cNvPr>
          <p:cNvSpPr txBox="1">
            <a:spLocks/>
          </p:cNvSpPr>
          <p:nvPr/>
        </p:nvSpPr>
        <p:spPr>
          <a:xfrm>
            <a:off x="4488762" y="674214"/>
            <a:ext cx="6419383" cy="4793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TW" sz="2400" b="1" dirty="0"/>
              <a:t>Future Improvements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More Algorithms</a:t>
            </a:r>
            <a:br>
              <a:rPr lang="zh-TW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Add Heap Sort, Shell Sort, and other modules.</a:t>
            </a:r>
            <a:endParaRPr lang="zh-TW" altLang="zh-TW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zh-TW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Add Tree Structures</a:t>
            </a:r>
            <a:br>
              <a:rPr lang="zh-TW" altLang="zh-TW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Support AVL and Red–Black Trees with rotation animations.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zh-TW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Hash Table Visualization</a:t>
            </a:r>
            <a:br>
              <a:rPr lang="zh-TW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Show hashing, collisions, and probing strategies.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zh-TW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Graph Algorithms</a:t>
            </a:r>
            <a:br>
              <a:rPr lang="zh-TW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800" dirty="0">
                <a:solidFill>
                  <a:schemeClr val="tx1"/>
                </a:solidFill>
                <a:latin typeface="Arial" panose="020B0604020202020204" pitchFamily="34" charset="0"/>
              </a:rPr>
              <a:t>Visualize BFS, DFS, Dijkstra, and MST on a graph canvas.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8602E4-545E-E936-FE63-1985C45726BC}"/>
              </a:ext>
            </a:extLst>
          </p:cNvPr>
          <p:cNvSpPr/>
          <p:nvPr/>
        </p:nvSpPr>
        <p:spPr>
          <a:xfrm rot="5400000">
            <a:off x="11106357" y="5365767"/>
            <a:ext cx="714375" cy="3364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E9990A-C7CF-29E6-73E1-F05D6A271109}"/>
              </a:ext>
            </a:extLst>
          </p:cNvPr>
          <p:cNvSpPr/>
          <p:nvPr/>
        </p:nvSpPr>
        <p:spPr>
          <a:xfrm rot="10800000">
            <a:off x="10917381" y="5554743"/>
            <a:ext cx="714375" cy="3364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386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625895" y="2643723"/>
            <a:ext cx="4940210" cy="1182822"/>
          </a:xfrm>
        </p:spPr>
        <p:txBody>
          <a:bodyPr>
            <a:normAutofit/>
          </a:bodyPr>
          <a:lstStyle/>
          <a:p>
            <a:pPr algn="ctr"/>
            <a:r>
              <a:rPr lang="en-US" altLang="zh-TW" sz="6600" dirty="0"/>
              <a:t>Thank You</a:t>
            </a:r>
            <a:endParaRPr lang="zh-TW" altLang="en-US" sz="6600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83F519E7-07F8-9A97-EE33-6A94F9EDC786}"/>
              </a:ext>
            </a:extLst>
          </p:cNvPr>
          <p:cNvCxnSpPr/>
          <p:nvPr/>
        </p:nvCxnSpPr>
        <p:spPr>
          <a:xfrm>
            <a:off x="3537527" y="3921414"/>
            <a:ext cx="51169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圖片 19" descr="一張含有 螢幕擷取畫面, Rectangle 的圖片&#10;&#10;AI 產生的內容可能不正確。">
            <a:extLst>
              <a:ext uri="{FF2B5EF4-FFF2-40B4-BE49-F238E27FC236}">
                <a16:creationId xmlns:a16="http://schemas.microsoft.com/office/drawing/2014/main" id="{43C82A03-9B51-AA49-7E58-7039E3ADE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883" y="609198"/>
            <a:ext cx="3286584" cy="5753903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24058ED-A8EB-F8C1-1BCA-7E9FA5A6E9EF}"/>
              </a:ext>
            </a:extLst>
          </p:cNvPr>
          <p:cNvSpPr/>
          <p:nvPr/>
        </p:nvSpPr>
        <p:spPr>
          <a:xfrm>
            <a:off x="5924550" y="3921415"/>
            <a:ext cx="171450" cy="258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82F961-3F6E-C57D-BC66-E9BFBF1BC7C8}"/>
              </a:ext>
            </a:extLst>
          </p:cNvPr>
          <p:cNvSpPr/>
          <p:nvPr/>
        </p:nvSpPr>
        <p:spPr>
          <a:xfrm>
            <a:off x="6096000" y="3921414"/>
            <a:ext cx="171450" cy="320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F910D-57AD-2E1C-95BA-56FCA1051AEB}"/>
              </a:ext>
            </a:extLst>
          </p:cNvPr>
          <p:cNvSpPr/>
          <p:nvPr/>
        </p:nvSpPr>
        <p:spPr>
          <a:xfrm>
            <a:off x="6267450" y="3921414"/>
            <a:ext cx="171450" cy="168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2714CA3-A1D3-C210-6E1B-5322628AEA33}"/>
              </a:ext>
            </a:extLst>
          </p:cNvPr>
          <p:cNvSpPr/>
          <p:nvPr/>
        </p:nvSpPr>
        <p:spPr>
          <a:xfrm>
            <a:off x="6438900" y="3921413"/>
            <a:ext cx="171450" cy="234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715E115-00D7-7147-189B-46D0F179A053}"/>
              </a:ext>
            </a:extLst>
          </p:cNvPr>
          <p:cNvSpPr/>
          <p:nvPr/>
        </p:nvSpPr>
        <p:spPr>
          <a:xfrm>
            <a:off x="6610350" y="3921415"/>
            <a:ext cx="171450" cy="143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B0EB8A7-4E09-8EE2-256C-C80AC8B7E068}"/>
              </a:ext>
            </a:extLst>
          </p:cNvPr>
          <p:cNvSpPr/>
          <p:nvPr/>
        </p:nvSpPr>
        <p:spPr>
          <a:xfrm>
            <a:off x="6781800" y="3921415"/>
            <a:ext cx="171450" cy="1973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AD5F0E2-637E-7561-39C8-86D991E4EB82}"/>
              </a:ext>
            </a:extLst>
          </p:cNvPr>
          <p:cNvSpPr/>
          <p:nvPr/>
        </p:nvSpPr>
        <p:spPr>
          <a:xfrm>
            <a:off x="6953250" y="3921415"/>
            <a:ext cx="171450" cy="258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399E3B6-D806-B42E-1F7A-A26EDD2ADF68}"/>
              </a:ext>
            </a:extLst>
          </p:cNvPr>
          <p:cNvSpPr/>
          <p:nvPr/>
        </p:nvSpPr>
        <p:spPr>
          <a:xfrm>
            <a:off x="7124700" y="3921413"/>
            <a:ext cx="171450" cy="300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2B98A7E-071C-AFC2-CFD4-206E756BE6F6}"/>
              </a:ext>
            </a:extLst>
          </p:cNvPr>
          <p:cNvSpPr/>
          <p:nvPr/>
        </p:nvSpPr>
        <p:spPr>
          <a:xfrm>
            <a:off x="4552950" y="3921415"/>
            <a:ext cx="171450" cy="143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398C20A-CDD3-B17A-6902-55E9C56E887D}"/>
              </a:ext>
            </a:extLst>
          </p:cNvPr>
          <p:cNvSpPr/>
          <p:nvPr/>
        </p:nvSpPr>
        <p:spPr>
          <a:xfrm>
            <a:off x="4724400" y="3921415"/>
            <a:ext cx="171450" cy="2588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093597F-8639-A0E5-1160-6332D5711983}"/>
              </a:ext>
            </a:extLst>
          </p:cNvPr>
          <p:cNvSpPr/>
          <p:nvPr/>
        </p:nvSpPr>
        <p:spPr>
          <a:xfrm>
            <a:off x="4895850" y="3921415"/>
            <a:ext cx="171450" cy="217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7CF55F-6DDB-342A-C370-A4E15FD80939}"/>
              </a:ext>
            </a:extLst>
          </p:cNvPr>
          <p:cNvSpPr/>
          <p:nvPr/>
        </p:nvSpPr>
        <p:spPr>
          <a:xfrm>
            <a:off x="5067300" y="3921414"/>
            <a:ext cx="171450" cy="168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034A080-5EE8-A328-636B-05508D9AAC4C}"/>
              </a:ext>
            </a:extLst>
          </p:cNvPr>
          <p:cNvSpPr/>
          <p:nvPr/>
        </p:nvSpPr>
        <p:spPr>
          <a:xfrm>
            <a:off x="5238750" y="3921415"/>
            <a:ext cx="171450" cy="234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0A566B1-B473-CB6A-7C3A-F2AAF29C42E1}"/>
              </a:ext>
            </a:extLst>
          </p:cNvPr>
          <p:cNvSpPr/>
          <p:nvPr/>
        </p:nvSpPr>
        <p:spPr>
          <a:xfrm>
            <a:off x="5410200" y="3921415"/>
            <a:ext cx="171450" cy="1093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828C9AE-F762-679F-A217-1628B3CF3D53}"/>
              </a:ext>
            </a:extLst>
          </p:cNvPr>
          <p:cNvSpPr/>
          <p:nvPr/>
        </p:nvSpPr>
        <p:spPr>
          <a:xfrm>
            <a:off x="5581650" y="3921415"/>
            <a:ext cx="171450" cy="1973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BB21506-E357-8B63-DDE7-446928B87164}"/>
              </a:ext>
            </a:extLst>
          </p:cNvPr>
          <p:cNvSpPr/>
          <p:nvPr/>
        </p:nvSpPr>
        <p:spPr>
          <a:xfrm>
            <a:off x="5753100" y="3921414"/>
            <a:ext cx="171450" cy="143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50A5AC9-1DE0-14E3-821D-A7145373BFDD}"/>
              </a:ext>
            </a:extLst>
          </p:cNvPr>
          <p:cNvSpPr/>
          <p:nvPr/>
        </p:nvSpPr>
        <p:spPr>
          <a:xfrm>
            <a:off x="3695700" y="3921414"/>
            <a:ext cx="171450" cy="50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24B0F75-3FA4-174B-0248-7D296D840DB6}"/>
              </a:ext>
            </a:extLst>
          </p:cNvPr>
          <p:cNvSpPr/>
          <p:nvPr/>
        </p:nvSpPr>
        <p:spPr>
          <a:xfrm>
            <a:off x="3867150" y="3921413"/>
            <a:ext cx="171450" cy="143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8400421-7969-3EB9-0198-46642EE6809D}"/>
              </a:ext>
            </a:extLst>
          </p:cNvPr>
          <p:cNvSpPr/>
          <p:nvPr/>
        </p:nvSpPr>
        <p:spPr>
          <a:xfrm>
            <a:off x="4038600" y="3921414"/>
            <a:ext cx="171450" cy="197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F79846A-BD80-71E7-AC5E-510FDF44392C}"/>
              </a:ext>
            </a:extLst>
          </p:cNvPr>
          <p:cNvSpPr/>
          <p:nvPr/>
        </p:nvSpPr>
        <p:spPr>
          <a:xfrm>
            <a:off x="4210050" y="3921413"/>
            <a:ext cx="171450" cy="109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B3B62DD-37E8-E1ED-372B-5289806F76FF}"/>
              </a:ext>
            </a:extLst>
          </p:cNvPr>
          <p:cNvSpPr/>
          <p:nvPr/>
        </p:nvSpPr>
        <p:spPr>
          <a:xfrm>
            <a:off x="4381500" y="3921414"/>
            <a:ext cx="171450" cy="70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E14B788-DC8B-8B6B-C03B-477F00F1455F}"/>
              </a:ext>
            </a:extLst>
          </p:cNvPr>
          <p:cNvSpPr/>
          <p:nvPr/>
        </p:nvSpPr>
        <p:spPr>
          <a:xfrm>
            <a:off x="7296152" y="3921413"/>
            <a:ext cx="171450" cy="217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D85E50E-25A1-9031-05E3-E876A40E66F7}"/>
              </a:ext>
            </a:extLst>
          </p:cNvPr>
          <p:cNvSpPr/>
          <p:nvPr/>
        </p:nvSpPr>
        <p:spPr>
          <a:xfrm>
            <a:off x="7467602" y="3921413"/>
            <a:ext cx="171450" cy="1681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4B1FFC2-90C3-AA98-7D81-885E2FB30876}"/>
              </a:ext>
            </a:extLst>
          </p:cNvPr>
          <p:cNvSpPr/>
          <p:nvPr/>
        </p:nvSpPr>
        <p:spPr>
          <a:xfrm>
            <a:off x="7639052" y="3921413"/>
            <a:ext cx="171450" cy="70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0C762A3-A512-03AA-71F6-7C0A53E54A25}"/>
              </a:ext>
            </a:extLst>
          </p:cNvPr>
          <p:cNvSpPr/>
          <p:nvPr/>
        </p:nvSpPr>
        <p:spPr>
          <a:xfrm>
            <a:off x="7810502" y="3921413"/>
            <a:ext cx="171450" cy="143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2876B9D-9A2D-421A-E787-0F041200383C}"/>
              </a:ext>
            </a:extLst>
          </p:cNvPr>
          <p:cNvSpPr/>
          <p:nvPr/>
        </p:nvSpPr>
        <p:spPr>
          <a:xfrm>
            <a:off x="7981952" y="3921414"/>
            <a:ext cx="171450" cy="197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548223B-48EC-07D6-DF95-13249D981A2D}"/>
              </a:ext>
            </a:extLst>
          </p:cNvPr>
          <p:cNvSpPr/>
          <p:nvPr/>
        </p:nvSpPr>
        <p:spPr>
          <a:xfrm>
            <a:off x="8153402" y="3921412"/>
            <a:ext cx="171450" cy="109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DF674B9-7F8A-3A71-E15C-73C8ADF6D0F1}"/>
              </a:ext>
            </a:extLst>
          </p:cNvPr>
          <p:cNvSpPr/>
          <p:nvPr/>
        </p:nvSpPr>
        <p:spPr>
          <a:xfrm>
            <a:off x="8324852" y="3921413"/>
            <a:ext cx="171450" cy="50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18246"/>
      </p:ext>
    </p:extLst>
  </p:cSld>
  <p:clrMapOvr>
    <a:masterClrMapping/>
  </p:clrMapOvr>
</p:sld>
</file>

<file path=ppt/theme/theme1.xml><?xml version="1.0" encoding="utf-8"?>
<a:theme xmlns:a="http://schemas.openxmlformats.org/drawingml/2006/main" name="框架">
  <a:themeElements>
    <a:clrScheme name="自訂 2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172033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框架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框架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243</TotalTime>
  <Words>609</Words>
  <Application>Microsoft Office PowerPoint</Application>
  <PresentationFormat>寬螢幕</PresentationFormat>
  <Paragraphs>128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-apple-system</vt:lpstr>
      <vt:lpstr>Arial</vt:lpstr>
      <vt:lpstr>Corbel</vt:lpstr>
      <vt:lpstr>Wingdings 2</vt:lpstr>
      <vt:lpstr>框架</vt:lpstr>
      <vt:lpstr>Data Structure Visualization </vt:lpstr>
      <vt:lpstr>Outline</vt:lpstr>
      <vt:lpstr>Problem Statement</vt:lpstr>
      <vt:lpstr>Problem Statement</vt:lpstr>
      <vt:lpstr>Problem Statement</vt:lpstr>
      <vt:lpstr>Project Overview</vt:lpstr>
      <vt:lpstr>Project Overview</vt:lpstr>
      <vt:lpstr>Project Overview</vt:lpstr>
      <vt:lpstr>Module Breakdown</vt:lpstr>
      <vt:lpstr>Module Breakdown</vt:lpstr>
      <vt:lpstr>Module Breakdown</vt:lpstr>
      <vt:lpstr>Module Breakdown</vt:lpstr>
      <vt:lpstr>Demonstration</vt:lpstr>
      <vt:lpstr>Design Highlights</vt:lpstr>
      <vt:lpstr>Future Extensions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昀漢 郭</dc:creator>
  <cp:lastModifiedBy>昀漢 郭</cp:lastModifiedBy>
  <cp:revision>9</cp:revision>
  <dcterms:created xsi:type="dcterms:W3CDTF">2025-12-10T14:27:58Z</dcterms:created>
  <dcterms:modified xsi:type="dcterms:W3CDTF">2025-12-11T01:10:28Z</dcterms:modified>
</cp:coreProperties>
</file>